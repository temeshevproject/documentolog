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0" r:id="rId4"/>
  </p:sldMasterIdLst>
  <p:notesMasterIdLst>
    <p:notesMasterId r:id="rId5"/>
  </p:notesMasterIdLst>
  <p:sldIdLst>
    <p:sldId id="256" r:id="rId6"/>
    <p:sldId id="257" r:id="rId17"/>
    <p:sldId id="258" r:id="rId16"/>
    <p:sldId id="259" r:id="rId15"/>
    <p:sldId id="260" r:id="rId14"/>
    <p:sldId id="261" r:id="rId13"/>
    <p:sldId id="262" r:id="rId12"/>
    <p:sldId id="263" r:id="rId11"/>
    <p:sldId id="264" r:id="rId10"/>
  </p:sldIdLst>
  <p:sldSz cy="5143500" cx="9144000"/>
  <p:notesSz cx="6858000" cy="9144000"/>
  <p:embeddedFontLst>
    <p:embeddedFont>
      <p:font typeface="Golos Text"/>
      <p:regular r:id="rId18"/>
      <p:bold r:id="rId19"/>
    </p:embeddedFont>
    <p:embeddedFont>
      <p:font typeface="IBM Plex Sans"/>
      <p:regular r:id="rId20"/>
      <p:bold r:id="rId21"/>
      <p:italic r:id="rId22"/>
      <p:boldItalic r:id="rId23"/>
    </p:embeddedFont>
    <p:embeddedFont>
      <p:font typeface="Golos Text Medium"/>
      <p:regular r:id="rId24"/>
      <p:bold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JetBrains Mono"/>
      <p:regular r:id="rId30"/>
      <p:bold r:id="rId31"/>
      <p:italic r:id="rId32"/>
      <p:boldItalic r:id="rId33"/>
    </p:embeddedFont>
    <p:embeddedFont>
      <p:font typeface="Golos Tex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iC108pgRb5se202Y13m7UAO+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font" Target="fonts/GolosText-regular.fntdata"/><Relationship Id="rId19" Type="http://schemas.openxmlformats.org/officeDocument/2006/relationships/font" Target="fonts/GolosText-bold.fntdata"/><Relationship Id="rId20" Type="http://schemas.openxmlformats.org/officeDocument/2006/relationships/font" Target="fonts/IBMPlexSans-regular.fntdata"/><Relationship Id="rId21" Type="http://schemas.openxmlformats.org/officeDocument/2006/relationships/font" Target="fonts/IBMPlexSans-bold.fntdata"/><Relationship Id="rId22" Type="http://schemas.openxmlformats.org/officeDocument/2006/relationships/font" Target="fonts/IBMPlexSans-italic.fntdata"/><Relationship Id="rId23" Type="http://schemas.openxmlformats.org/officeDocument/2006/relationships/font" Target="fonts/IBMPlexSans-boldItalic.fntdata"/><Relationship Id="rId24" Type="http://schemas.openxmlformats.org/officeDocument/2006/relationships/font" Target="fonts/GolosTextMedium-regular.fntdata"/><Relationship Id="rId25" Type="http://schemas.openxmlformats.org/officeDocument/2006/relationships/font" Target="fonts/GolosTextMedium-bold.fntdata"/><Relationship Id="rId26" Type="http://schemas.openxmlformats.org/officeDocument/2006/relationships/font" Target="fonts/Montserrat-regular.fntdata"/><Relationship Id="rId27" Type="http://schemas.openxmlformats.org/officeDocument/2006/relationships/font" Target="fonts/Montserrat-bold.fntdata"/><Relationship Id="rId28" Type="http://schemas.openxmlformats.org/officeDocument/2006/relationships/font" Target="fonts/Montserrat-italic.fntdata"/><Relationship Id="rId29" Type="http://schemas.openxmlformats.org/officeDocument/2006/relationships/font" Target="fonts/Montserrat-boldItalic.fntdata"/><Relationship Id="rId30" Type="http://schemas.openxmlformats.org/officeDocument/2006/relationships/font" Target="fonts/JetBrainsMono-regular.fntdata"/><Relationship Id="rId31" Type="http://schemas.openxmlformats.org/officeDocument/2006/relationships/font" Target="fonts/JetBrainsMono-bold.fntdata"/><Relationship Id="rId32" Type="http://schemas.openxmlformats.org/officeDocument/2006/relationships/font" Target="fonts/JetBrainsMono-italic.fntdata"/><Relationship Id="rId33" Type="http://schemas.openxmlformats.org/officeDocument/2006/relationships/font" Target="fonts/JetBrainsMono-boldItalic.fntdata"/><Relationship Id="rId34" Type="http://schemas.openxmlformats.org/officeDocument/2006/relationships/font" Target="fonts/GolosTextSemiBold-regular.fntdata"/><Relationship Id="rId35" Type="http://schemas.openxmlformats.org/officeDocument/2006/relationships/font" Target="fonts/GolosTextSemiBold-bold.fntdata"/><Relationship Id="rId3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bf351e6d1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1bf351e6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ТЕМНО СЕРЫЙ ФОН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31b4f510750_5_3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g31b4f510750_5_358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9" name="Google Shape;9;g31b4f510750_5_358"/>
          <p:cNvGrpSpPr/>
          <p:nvPr/>
        </p:nvGrpSpPr>
        <p:grpSpPr>
          <a:xfrm>
            <a:off x="7487100" y="394845"/>
            <a:ext cx="1191767" cy="179211"/>
            <a:chOff x="7419975" y="4637527"/>
            <a:chExt cx="1105946" cy="166306"/>
          </a:xfrm>
        </p:grpSpPr>
        <p:sp>
          <p:nvSpPr>
            <p:cNvPr id="10" name="Google Shape;10;g31b4f510750_5_358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g31b4f510750_5_358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1b4f510750_5_358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1b4f510750_5_358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1b4f510750_5_358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1b4f510750_5_358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31b4f510750_5_358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1b4f510750_5_358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1b4f510750_5_358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1b4f510750_5_358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1b4f510750_5_358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g31b4f510750_5_358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Слайд ТЕМНО СЕРЫЙ ФОН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1d6e50d44b_1_3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g31b4f510750_5_374"/>
          <p:cNvGrpSpPr/>
          <p:nvPr/>
        </p:nvGrpSpPr>
        <p:grpSpPr>
          <a:xfrm>
            <a:off x="7487097" y="394835"/>
            <a:ext cx="1191767" cy="179211"/>
            <a:chOff x="7419975" y="4637527"/>
            <a:chExt cx="1105946" cy="166306"/>
          </a:xfrm>
        </p:grpSpPr>
        <p:sp>
          <p:nvSpPr>
            <p:cNvPr id="26" name="Google Shape;26;g31b4f510750_5_374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1b4f510750_5_374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31b4f510750_5_374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1b4f510750_5_374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1b4f510750_5_374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1b4f510750_5_374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1b4f510750_5_374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1b4f510750_5_374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31b4f510750_5_374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1b4f510750_5_374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1b4f510750_5_374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1b4f510750_5_374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2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accen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8" name="Google Shape;38;g31b4f510750_5_374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БЕЛЫЙ ФОН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b4f510750_5_357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2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accen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1" name="Google Shape;41;g31b4f510750_5_357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">
  <p:cSld name="Слайд ЧЕРНЫЙ ФОН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b4f510750_5_3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1b4f510750_5_360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45" name="Google Shape;45;g31b4f510750_5_360"/>
          <p:cNvGrpSpPr/>
          <p:nvPr/>
        </p:nvGrpSpPr>
        <p:grpSpPr>
          <a:xfrm>
            <a:off x="7487100" y="394845"/>
            <a:ext cx="1191767" cy="179211"/>
            <a:chOff x="7419975" y="4637527"/>
            <a:chExt cx="1105946" cy="166306"/>
          </a:xfrm>
        </p:grpSpPr>
        <p:sp>
          <p:nvSpPr>
            <p:cNvPr id="46" name="Google Shape;46;g31b4f510750_5_360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1b4f510750_5_360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1b4f510750_5_360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1b4f510750_5_360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1b4f510750_5_360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1b4f510750_5_360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1b4f510750_5_360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1b4f510750_5_360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1b4f510750_5_360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1b4f510750_5_360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1b4f510750_5_360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g31b4f510750_5_360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b4f510750_5_3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1b4f510750_5_3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g31b4f510750_5_3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1">
  <p:cSld name="1_Заголовок и два столбца_белый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b4f510750_5_3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g31b4f510750_5_366"/>
          <p:cNvPicPr preferRelativeResize="0"/>
          <p:nvPr/>
        </p:nvPicPr>
        <p:blipFill rotWithShape="1">
          <a:blip r:embed="rId2">
            <a:alphaModFix amt="5000"/>
          </a:blip>
          <a:srcRect b="-2976" l="0" r="-2459" t="0"/>
          <a:stretch/>
        </p:blipFill>
        <p:spPr>
          <a:xfrm rot="-995823">
            <a:off x="1146996" y="41721"/>
            <a:ext cx="9001550" cy="5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2">
  <p:cSld name="Заголовок и два столбца_белый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b4f510750_5_3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3">
  <p:cSld name="1_Заголовок и два столбца_белый 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b4f510750_5_3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1b4f510750_5_371"/>
          <p:cNvPicPr preferRelativeResize="0"/>
          <p:nvPr/>
        </p:nvPicPr>
        <p:blipFill rotWithShape="1">
          <a:blip r:embed="rId2">
            <a:alphaModFix amt="5000"/>
          </a:blip>
          <a:srcRect b="-2976" l="-1468" r="-1944" t="0"/>
          <a:stretch/>
        </p:blipFill>
        <p:spPr>
          <a:xfrm>
            <a:off x="-1203960" y="0"/>
            <a:ext cx="11207539" cy="548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b4f510750_5_37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1b4f510750_5_37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1b4f510750_5_3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" name="Google Shape;74;g31b4f510750_5_375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BFBFB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rgbClr val="BFBFB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белый 1">
  <p:cSld name="Один столбец_белый 1">
    <p:bg>
      <p:bgPr>
        <a:solidFill>
          <a:srgbClr val="6C85D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b4f510750_5_380"/>
          <p:cNvSpPr txBox="1"/>
          <p:nvPr>
            <p:ph type="title"/>
          </p:nvPr>
        </p:nvSpPr>
        <p:spPr>
          <a:xfrm>
            <a:off x="180000" y="180000"/>
            <a:ext cx="39906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1b4f510750_5_380"/>
          <p:cNvSpPr txBox="1"/>
          <p:nvPr>
            <p:ph idx="12" type="sldNum"/>
          </p:nvPr>
        </p:nvSpPr>
        <p:spPr>
          <a:xfrm>
            <a:off x="7637975" y="471705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" name="Google Shape;78;g31b4f510750_5_380"/>
          <p:cNvSpPr txBox="1"/>
          <p:nvPr>
            <p:ph idx="1" type="body"/>
          </p:nvPr>
        </p:nvSpPr>
        <p:spPr>
          <a:xfrm>
            <a:off x="4369500" y="180000"/>
            <a:ext cx="4594500" cy="4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b4f510750_5_38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1b4f510750_5_38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1b4f510750_5_3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">
  <p:cSld name="Title and Content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b4f510750_5_388"/>
          <p:cNvSpPr txBox="1"/>
          <p:nvPr>
            <p:ph type="title"/>
          </p:nvPr>
        </p:nvSpPr>
        <p:spPr>
          <a:xfrm>
            <a:off x="327479" y="327457"/>
            <a:ext cx="4865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1b4f510750_5_388"/>
          <p:cNvSpPr txBox="1"/>
          <p:nvPr/>
        </p:nvSpPr>
        <p:spPr>
          <a:xfrm>
            <a:off x="328333" y="1203800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41600" spcFirstLastPara="1" rIns="4160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9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1">
  <p:cSld name="Title and Content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4f510750_5_391"/>
          <p:cNvSpPr txBox="1"/>
          <p:nvPr>
            <p:ph type="title"/>
          </p:nvPr>
        </p:nvSpPr>
        <p:spPr>
          <a:xfrm>
            <a:off x="327479" y="327457"/>
            <a:ext cx="4865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1b4f510750_5_391"/>
          <p:cNvSpPr txBox="1"/>
          <p:nvPr/>
        </p:nvSpPr>
        <p:spPr>
          <a:xfrm>
            <a:off x="328333" y="1203800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41600" spcFirstLastPara="1" rIns="4160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9">
          <p15:clr>
            <a:srgbClr val="E46962"/>
          </p15:clr>
        </p15:guide>
        <p15:guide id="3" orient="horz" pos="7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2">
  <p:cSld name="Заголовок и контент 2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b4f510750_5_394"/>
          <p:cNvSpPr txBox="1"/>
          <p:nvPr>
            <p:ph type="title"/>
          </p:nvPr>
        </p:nvSpPr>
        <p:spPr>
          <a:xfrm>
            <a:off x="327479" y="327456"/>
            <a:ext cx="486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1b4f510750_5_394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2" name="Google Shape;92;g31b4f510750_5_394"/>
          <p:cNvSpPr txBox="1"/>
          <p:nvPr>
            <p:ph idx="12" type="sldNum"/>
          </p:nvPr>
        </p:nvSpPr>
        <p:spPr>
          <a:xfrm>
            <a:off x="8556784" y="4749851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3">
  <p:cSld name="Заголовок и контент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4f510750_5_398"/>
          <p:cNvSpPr txBox="1"/>
          <p:nvPr>
            <p:ph type="title"/>
          </p:nvPr>
        </p:nvSpPr>
        <p:spPr>
          <a:xfrm>
            <a:off x="327479" y="327456"/>
            <a:ext cx="48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31b4f510750_5_398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6" name="Google Shape;96;g31b4f510750_5_398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BFBFB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rgbClr val="BFBFB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3 1">
  <p:cSld name="Заголовок и контент 3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b4f510750_5_402"/>
          <p:cNvSpPr txBox="1"/>
          <p:nvPr>
            <p:ph type="title"/>
          </p:nvPr>
        </p:nvSpPr>
        <p:spPr>
          <a:xfrm>
            <a:off x="327479" y="327456"/>
            <a:ext cx="486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g31b4f510750_5_402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графит">
  <p:cSld name="ONE_COLUMN_TEXT_1">
    <p:bg>
      <p:bgPr>
        <a:solidFill>
          <a:srgbClr val="1E1E1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4f510750_5_405"/>
          <p:cNvSpPr txBox="1"/>
          <p:nvPr>
            <p:ph idx="12" type="sldNum"/>
          </p:nvPr>
        </p:nvSpPr>
        <p:spPr>
          <a:xfrm>
            <a:off x="7637975" y="471705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2" name="Google Shape;102;g31b4f510750_5_405"/>
          <p:cNvSpPr txBox="1"/>
          <p:nvPr>
            <p:ph type="title"/>
          </p:nvPr>
        </p:nvSpPr>
        <p:spPr>
          <a:xfrm>
            <a:off x="180000" y="180000"/>
            <a:ext cx="39906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1b4f510750_5_405"/>
          <p:cNvSpPr txBox="1"/>
          <p:nvPr>
            <p:ph idx="1" type="body"/>
          </p:nvPr>
        </p:nvSpPr>
        <p:spPr>
          <a:xfrm>
            <a:off x="180000" y="1883600"/>
            <a:ext cx="45945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4" name="Google Shape;104;g31b4f510750_5_4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00" y="4682460"/>
            <a:ext cx="713135" cy="3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1b4f510750_5_405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белый">
  <p:cSld name="Один столбец_белый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b4f510750_5_411"/>
          <p:cNvSpPr txBox="1"/>
          <p:nvPr>
            <p:ph type="title"/>
          </p:nvPr>
        </p:nvSpPr>
        <p:spPr>
          <a:xfrm>
            <a:off x="312125" y="180000"/>
            <a:ext cx="41178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b4f510750_5_413"/>
          <p:cNvSpPr txBox="1"/>
          <p:nvPr>
            <p:ph type="title"/>
          </p:nvPr>
        </p:nvSpPr>
        <p:spPr>
          <a:xfrm>
            <a:off x="630785" y="441132"/>
            <a:ext cx="7882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4f510750_2_431"/>
          <p:cNvSpPr txBox="1"/>
          <p:nvPr>
            <p:ph type="title"/>
          </p:nvPr>
        </p:nvSpPr>
        <p:spPr>
          <a:xfrm>
            <a:off x="684682" y="308559"/>
            <a:ext cx="374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23A8D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g31b4f510750_2_431"/>
          <p:cNvSpPr txBox="1"/>
          <p:nvPr/>
        </p:nvSpPr>
        <p:spPr>
          <a:xfrm>
            <a:off x="375200" y="4823550"/>
            <a:ext cx="345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Strictly Confidential. Copyright Reserved to Sergek Projects Ltd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1b4f510750_2_431"/>
          <p:cNvSpPr txBox="1"/>
          <p:nvPr>
            <p:ph idx="12" type="sldNum"/>
          </p:nvPr>
        </p:nvSpPr>
        <p:spPr>
          <a:xfrm>
            <a:off x="8677835" y="4889749"/>
            <a:ext cx="15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БЕЛЫЙ ФОН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ТЕМНО СЕРЫЙ ФОН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f351e6d1_0_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">
  <p:cSld name="Слайд ЧЕРНЫЙ ФОН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bf351e6d1_0_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bf351e6d1_0_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1bf351e6d1_0_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g31bf351e6d1_0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1">
  <p:cSld name="1_Заголовок и два столбца_белый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bf351e6d1_0_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1bf351e6d1_0_66"/>
          <p:cNvPicPr preferRelativeResize="0"/>
          <p:nvPr/>
        </p:nvPicPr>
        <p:blipFill rotWithShape="1">
          <a:blip r:embed="rId2">
            <a:alphaModFix amt="5000"/>
          </a:blip>
          <a:srcRect b="-2976" l="0" r="-2459" t="0"/>
          <a:stretch/>
        </p:blipFill>
        <p:spPr>
          <a:xfrm rot="-995823">
            <a:off x="1146996" y="41721"/>
            <a:ext cx="9001550" cy="5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2">
  <p:cSld name="Заголовок и два столбца_белый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bf351e6d1_0_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3">
  <p:cSld name="1_Заголовок и два столбца_белый 2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bf351e6d1_0_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1bf351e6d1_0_71"/>
          <p:cNvPicPr preferRelativeResize="0"/>
          <p:nvPr/>
        </p:nvPicPr>
        <p:blipFill rotWithShape="1">
          <a:blip r:embed="rId2">
            <a:alphaModFix amt="5000"/>
          </a:blip>
          <a:srcRect b="-2976" l="-1468" r="-1944" t="0"/>
          <a:stretch/>
        </p:blipFill>
        <p:spPr>
          <a:xfrm>
            <a:off x="-1203960" y="0"/>
            <a:ext cx="11207539" cy="548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1bf351e6d1_0_37"/>
          <p:cNvGrpSpPr/>
          <p:nvPr/>
        </p:nvGrpSpPr>
        <p:grpSpPr>
          <a:xfrm>
            <a:off x="486285" y="590175"/>
            <a:ext cx="2398023" cy="360601"/>
            <a:chOff x="7419975" y="4637527"/>
            <a:chExt cx="1105946" cy="166306"/>
          </a:xfrm>
        </p:grpSpPr>
        <p:sp>
          <p:nvSpPr>
            <p:cNvPr id="137" name="Google Shape;137;g31bf351e6d1_0_37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1bf351e6d1_0_37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1bf351e6d1_0_37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1bf351e6d1_0_37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1bf351e6d1_0_37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1bf351e6d1_0_37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1bf351e6d1_0_37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1bf351e6d1_0_37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1bf351e6d1_0_37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1bf351e6d1_0_37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1bf351e6d1_0_37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g31bf351e6d1_0_37"/>
          <p:cNvSpPr txBox="1"/>
          <p:nvPr/>
        </p:nvSpPr>
        <p:spPr>
          <a:xfrm>
            <a:off x="373217" y="2726723"/>
            <a:ext cx="300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10.09.2026</a:t>
            </a:r>
          </a:p>
        </p:txBody>
      </p:sp>
      <p:sp>
        <p:nvSpPr>
          <p:cNvPr id="149" name="Google Shape;149;g31bf351e6d1_0_37"/>
          <p:cNvSpPr txBox="1"/>
          <p:nvPr/>
        </p:nvSpPr>
        <p:spPr>
          <a:xfrm>
            <a:off x="373227" y="2108975"/>
            <a:ext cx="419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Интеграция SimBASE и Documentolog</a:t>
            </a:r>
          </a:p>
        </p:txBody>
      </p:sp>
      <p:pic>
        <p:nvPicPr>
          <p:cNvPr id="150" name="Google Shape;150;g31bf351e6d1_0_37"/>
          <p:cNvPicPr preferRelativeResize="0"/>
          <p:nvPr/>
        </p:nvPicPr>
        <p:blipFill rotWithShape="1">
          <a:blip r:embed="rId3">
            <a:alphaModFix/>
          </a:blip>
          <a:srcRect b="0" l="44680" r="6316" t="0"/>
          <a:stretch/>
        </p:blipFill>
        <p:spPr>
          <a:xfrm rot="5400000">
            <a:off x="4094185" y="266040"/>
            <a:ext cx="5143504" cy="461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1bf351e6d1_0_37"/>
          <p:cNvSpPr/>
          <p:nvPr/>
        </p:nvSpPr>
        <p:spPr>
          <a:xfrm>
            <a:off x="8213100" y="348600"/>
            <a:ext cx="2049900" cy="1199400"/>
          </a:xfrm>
          <a:prstGeom prst="rect">
            <a:avLst/>
          </a:prstGeom>
          <a:solidFill>
            <a:schemeClr val="accent6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r>
              <a:t>Единый процесс входящей и исходящей корреспонденции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это нужно?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Сегодня сотрудники ведут одно письмо в двух системах: SimBASE и Documentolog.</a:t>
            </a:r>
          </a:p>
          <a:p>
            <a:pPr/>
            <a:r>
              <a:t>SimBASE — внутренняя работа; Documentolog — канал к внешнему миру (ЕСЭДО, КЦОЭД).</a:t>
            </a:r>
          </a:p>
          <a:p>
            <a:pPr/>
            <a:r>
              <a:t>В SimBASE нет шлюза ЕСЭДО — внешняя переписка ведётся в Documentolog.</a:t>
            </a:r>
          </a:p>
          <a:p>
            <a:pPr/>
            <a:r>
              <a:t>Повторное согласование и регистрация отнимают время и создают ошибки.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работает сейчас (AS-IS)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Исходящее: SimBASE → вручную Documentolog → снова согласование → отправка.</a:t>
            </a:r>
          </a:p>
          <a:p>
            <a:pPr/>
            <a:r>
              <a:t>Входящее: Documentolog → регистрация → вручную SimBASE → согласование.</a:t>
            </a:r>
          </a:p>
          <a:p>
            <a:pPr/>
            <a:r>
              <a:t>Постоянное переключение между системами.</a:t>
            </a:r>
          </a:p>
          <a:p>
            <a:pPr/>
            <a:r>
              <a:t>Нет единой картины статуса и ответственного.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предлагаем (TO-BE)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SimBASE — единое рабочее место по входящей и исходящей корреспонденции.</a:t>
            </a:r>
          </a:p>
          <a:p>
            <a:pPr/>
            <a:r>
              <a:t>Documentolog — backend обмена с госорганами и контрагентами.</a:t>
            </a:r>
          </a:p>
          <a:p>
            <a:pPr/>
            <a:r>
              <a:t>Входящие: «Запросить» → импорт в SimBASE → один БП.</a:t>
            </a:r>
          </a:p>
          <a:p>
            <a:pPr/>
            <a:r>
              <a:t>Исходящие: цикл в SimBASE → «Отправить» → Documentolog во внешку.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это даст организации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Эффект для бизнеса</a:t>
            </a:r>
          </a:p>
          <a:p>
            <a:pPr lvl="1"/>
            <a:r>
              <a:t>Меньше ручного труда делопроизводства</a:t>
            </a:r>
          </a:p>
          <a:p>
            <a:pPr lvl="1"/>
            <a:r>
              <a:t>Быстрее прохождение писем</a:t>
            </a:r>
          </a:p>
          <a:p>
            <a:pPr lvl="1"/>
            <a:r>
              <a:t>Меньше ошибок при переносе файлов и реквизитов</a:t>
            </a:r>
          </a:p>
          <a:p>
            <a:pPr lvl="1"/>
            <a:r>
              <a:t>Прозрачный контроль статусов в одной системе</a:t>
            </a:r>
          </a:p>
          <a:p>
            <a:pPr lvl="1"/>
            <a:r>
              <a:t>Сотрудники не заходят в Documentolog в рутине</a:t>
            </a:r>
          </a:p>
          <a:p>
            <a:pPr/>
            <a:r>
              <a:t>Что не меняется</a:t>
            </a:r>
          </a:p>
          <a:p>
            <a:pPr lvl="1"/>
            <a:r>
              <a:t>33 лицензии Documentolog — транспортный слой</a:t>
            </a:r>
          </a:p>
          <a:p>
            <a:pPr lvl="1"/>
            <a:r>
              <a:t>Юридическая значимость и ЕСЭДО — через Documentolog</a:t>
            </a:r>
          </a:p>
          <a:p>
            <a:pPr lvl="1"/>
            <a:r>
              <a:t>Внутренние процессы SimBASE — без изменений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сценарии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Входящее: Documentolog → «Запросить» → регистрация и маршрут в SimBASE.</a:t>
            </a:r>
          </a:p>
          <a:p>
            <a:pPr/>
            <a:r>
              <a:t>Исходящее: согласование в SimBASE → «Отправить через Documentolog».</a:t>
            </a:r>
          </a:p>
          <a:p>
            <a:pPr/>
            <a:r>
              <a:t>Повторное согласование в Documentolog исключается.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 и как их снимаем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API Documentolog для входящих и ЕСЭДО — workshop с вендором на старте.</a:t>
            </a:r>
          </a:p>
          <a:p>
            <a:pPr/>
            <a:r>
              <a:t>Двойные номера — учётный номер в SimBASE.</a:t>
            </a:r>
          </a:p>
          <a:p>
            <a:pPr/>
            <a:r>
              <a:t>ЭЦП — по возможности из SimBASE (iframe/API).</a:t>
            </a:r>
          </a:p>
          <a:p>
            <a:pPr/>
            <a:r>
              <a:t>Пилот перед отключением рутинного UI Documentolog.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Этапы и решение для руководства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Обследование + согласование API с Documentolog.</a:t>
            </a:r>
          </a:p>
          <a:p>
            <a:pPr/>
            <a:r>
              <a:t>Проектирование, интеграция, два БП в SimBASE.</a:t>
            </a:r>
          </a:p>
          <a:p>
            <a:pPr/>
            <a:r>
              <a:t>Пилот с делопроизводством и офис-менеджментом.</a:t>
            </a:r>
          </a:p>
          <a:p>
            <a:pPr/>
            <a:r>
              <a:t>Решение: утвердить TO-BE, владелец процесса, рабочая группа (ИТ, канцелярия, вендоры).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Фоны">
  <a:themeElements>
    <a:clrScheme name="SG_pptx">
      <a:dk1>
        <a:srgbClr val="1E1E1E"/>
      </a:dk1>
      <a:lt1>
        <a:srgbClr val="FFFFFF"/>
      </a:lt1>
      <a:dk2>
        <a:srgbClr val="1C3341"/>
      </a:dk2>
      <a:lt2>
        <a:srgbClr val="013D85"/>
      </a:lt2>
      <a:accent1>
        <a:srgbClr val="28AB6A"/>
      </a:accent1>
      <a:accent2>
        <a:srgbClr val="D4D8E4"/>
      </a:accent2>
      <a:accent3>
        <a:srgbClr val="A7B6BD"/>
      </a:accent3>
      <a:accent4>
        <a:srgbClr val="FBBB05"/>
      </a:accent4>
      <a:accent5>
        <a:srgbClr val="4384F4"/>
      </a:accent5>
      <a:accent6>
        <a:srgbClr val="E94235"/>
      </a:accent6>
      <a:hlink>
        <a:srgbClr val="FFFFFF"/>
      </a:hlink>
      <a:folHlink>
        <a:srgbClr val="A7B6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Фоны">
  <a:themeElements>
    <a:clrScheme name="SG_pptx">
      <a:dk1>
        <a:srgbClr val="1E1E1E"/>
      </a:dk1>
      <a:lt1>
        <a:srgbClr val="FFFFFF"/>
      </a:lt1>
      <a:dk2>
        <a:srgbClr val="1C3341"/>
      </a:dk2>
      <a:lt2>
        <a:srgbClr val="013D85"/>
      </a:lt2>
      <a:accent1>
        <a:srgbClr val="28AB6A"/>
      </a:accent1>
      <a:accent2>
        <a:srgbClr val="D4D8E4"/>
      </a:accent2>
      <a:accent3>
        <a:srgbClr val="A7B6BD"/>
      </a:accent3>
      <a:accent4>
        <a:srgbClr val="FBBB05"/>
      </a:accent4>
      <a:accent5>
        <a:srgbClr val="4384F4"/>
      </a:accent5>
      <a:accent6>
        <a:srgbClr val="E94235"/>
      </a:accent6>
      <a:hlink>
        <a:srgbClr val="FFFFFF"/>
      </a:hlink>
      <a:folHlink>
        <a:srgbClr val="A7B6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Пользователь</dc:creator>
</cp:coreProperties>
</file>